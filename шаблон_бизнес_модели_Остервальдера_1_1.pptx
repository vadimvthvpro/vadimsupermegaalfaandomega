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128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44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4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35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65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162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76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76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78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97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597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F9CB0-4002-4E9C-B3AB-F5D0B878C9E4}" type="datetimeFigureOut">
              <a:rPr lang="ru-RU" smtClean="0"/>
              <a:t>10.10.2024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0266F-0068-40BC-BA2F-337F724A2D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79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Medium" panose="02000603040000020003" pitchFamily="50" charset="-52"/>
              </a:rPr>
              <a:t>Шаблон бизнес-модели по </a:t>
            </a:r>
            <a:r>
              <a:rPr lang="ru-RU" sz="4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T Walsheim Pro Medium" panose="02000603040000020003" pitchFamily="50" charset="-52"/>
              </a:rPr>
              <a:t>Остервальдеру</a:t>
            </a:r>
            <a:endParaRPr lang="ru-RU" sz="4000" dirty="0">
              <a:solidFill>
                <a:schemeClr val="tx1">
                  <a:lumMod val="50000"/>
                  <a:lumOff val="50000"/>
                </a:schemeClr>
              </a:solidFill>
              <a:latin typeface="GT Walsheim Pro Medium" panose="02000603040000020003" pitchFamily="50" charset="-5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8725403" y="1700808"/>
            <a:ext cx="1770679" cy="379261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Потребительские сегменты </a:t>
            </a:r>
          </a:p>
          <a:p>
            <a:endParaRPr kumimoji="0"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spcAft>
                <a:spcPts val="600"/>
              </a:spcAft>
            </a:pPr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  <a:cs typeface="Times New Roman" panose="02020603050405020304" pitchFamily="18" charset="0"/>
              </a:rPr>
              <a:t>Корпоративные клиенты</a:t>
            </a:r>
          </a:p>
          <a:p>
            <a:pPr>
              <a:spcAft>
                <a:spcPts val="600"/>
              </a:spcAft>
            </a:pPr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  <a:cs typeface="Times New Roman" panose="02020603050405020304" pitchFamily="18" charset="0"/>
              </a:rPr>
              <a:t>Архитекторы и декораторы</a:t>
            </a:r>
          </a:p>
          <a:p>
            <a:pPr>
              <a:spcAft>
                <a:spcPts val="600"/>
              </a:spcAft>
            </a:pPr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  <a:cs typeface="Times New Roman" panose="02020603050405020304" pitchFamily="18" charset="0"/>
              </a:rPr>
              <a:t>Женщины 25-50 лет, с доходом средним и выше среднего. Они обладают тонким вкусом, ценят индивидуальность и практичность. К цене не чувствительны.</a:t>
            </a:r>
          </a:p>
          <a:p>
            <a:pPr>
              <a:spcAft>
                <a:spcPts val="600"/>
              </a:spcAft>
            </a:pPr>
            <a:endParaRPr kumimoji="0" lang="ru-RU" sz="11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r>
              <a:rPr kumimoji="0" lang="ru-RU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 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524365" y="1700808"/>
            <a:ext cx="1661723" cy="37944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Ключевые партнеры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0"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Дизайнерские мастерские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Транспортные компании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0"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015950" y="1700809"/>
            <a:ext cx="1844767" cy="37926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Ценностное предложение</a:t>
            </a: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Уникальные дизайнерские подарки и предметы интерьера, выполненные по эскизам, разработанным совместно с заказчиком</a:t>
            </a:r>
          </a:p>
          <a:p>
            <a:endParaRPr kumimoji="0" lang="ru-RU" sz="14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547985" y="5560205"/>
            <a:ext cx="4230391" cy="67710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Структура издержек</a:t>
            </a:r>
          </a:p>
          <a:p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Аренда помещения, выплаты дизайнерским мастерским, реклама, налоги, заработная плата и соц. отчисления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871593" y="5560205"/>
            <a:ext cx="4624489" cy="67710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Потоки поступления доходов: </a:t>
            </a:r>
          </a:p>
          <a:p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Оказание услуги клиентам (разработка эскиза, размещение заказа в дизайнерской мастерской, передача товара клиенту)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6650" y="4293097"/>
            <a:ext cx="1792819" cy="118494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Каналы коммуникаций и сбыта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  <a:cs typeface="Times New Roman" panose="02020603050405020304" pitchFamily="18" charset="0"/>
              </a:rPr>
              <a:t>«Сарафанное радио»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  <a:cs typeface="Times New Roman" panose="02020603050405020304" pitchFamily="18" charset="0"/>
              </a:rPr>
              <a:t>Сайт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  <a:cs typeface="Times New Roman" panose="02020603050405020304" pitchFamily="18" charset="0"/>
              </a:rPr>
              <a:t>Участие в ярмарках и выставках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896651" y="1700809"/>
            <a:ext cx="1792819" cy="256993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Взаимоотношения с клиентами: </a:t>
            </a:r>
          </a:p>
          <a:p>
            <a:r>
              <a:rPr kumimoji="0" lang="ru-RU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Индивидуальная работа с клиентом</a:t>
            </a:r>
          </a:p>
          <a:p>
            <a:endParaRPr kumimoji="0" lang="ru-RU" sz="11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r>
              <a:rPr kumimoji="0" lang="ru-RU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Оказание услуги по разработке эскиза совместно с клиентом</a:t>
            </a:r>
          </a:p>
          <a:p>
            <a:endParaRPr kumimoji="0" lang="ru-RU" sz="11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r>
              <a:rPr kumimoji="0" lang="ru-RU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Поддержание коммуникации с клиентом в течение всего срока изготовления заказ</a:t>
            </a:r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а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222021" y="1700809"/>
            <a:ext cx="1757995" cy="2556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Ключевые виды деятельности</a:t>
            </a: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Разработка дизайн-проекта </a:t>
            </a:r>
          </a:p>
          <a:p>
            <a:endParaRPr kumimoji="0"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В перспективе: обучение (мастер-классы для клиентов)</a:t>
            </a: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227342" y="4294625"/>
            <a:ext cx="1752674" cy="11988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Ключевые ресурсы: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0"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Команда</a:t>
            </a:r>
          </a:p>
        </p:txBody>
      </p:sp>
    </p:spTree>
    <p:extLst>
      <p:ext uri="{BB962C8B-B14F-4D97-AF65-F5344CB8AC3E}">
        <p14:creationId xmlns:p14="http://schemas.microsoft.com/office/powerpoint/2010/main" val="3042362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Medium" panose="02000603040000020003" pitchFamily="50" charset="-52"/>
              </a:rPr>
              <a:t>Шаблон бизнес-модели по </a:t>
            </a:r>
            <a:r>
              <a:rPr lang="ru-RU" sz="4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T Walsheim Pro Medium" panose="02000603040000020003" pitchFamily="50" charset="-52"/>
              </a:rPr>
              <a:t>Остервальдеру</a:t>
            </a:r>
            <a:endParaRPr lang="ru-RU" sz="4000" dirty="0">
              <a:solidFill>
                <a:schemeClr val="tx1">
                  <a:lumMod val="50000"/>
                  <a:lumOff val="50000"/>
                </a:schemeClr>
              </a:solidFill>
              <a:latin typeface="GT Walsheim Pro Medium" panose="02000603040000020003" pitchFamily="50" charset="-5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8725403" y="1700808"/>
            <a:ext cx="1770679" cy="379261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Потребительские сегменты </a:t>
            </a:r>
          </a:p>
          <a:p>
            <a:endParaRPr kumimoji="0"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spcAft>
                <a:spcPts val="600"/>
              </a:spcAft>
            </a:pPr>
            <a:endParaRPr kumimoji="0" lang="ru-RU" sz="11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r>
              <a:rPr kumimoji="0" lang="ru-RU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 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524365" y="1700808"/>
            <a:ext cx="1661723" cy="37944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Ключевые партнеры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0"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0" lang="ru-RU" sz="12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015950" y="1700809"/>
            <a:ext cx="1844767" cy="37926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Ценностное предложение</a:t>
            </a:r>
          </a:p>
          <a:p>
            <a:endParaRPr kumimoji="0" lang="ru-RU" sz="1400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547985" y="5560205"/>
            <a:ext cx="4230391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Структура издержек</a:t>
            </a: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871593" y="5560205"/>
            <a:ext cx="4624489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Потоки поступления доходов: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6650" y="3673316"/>
            <a:ext cx="1792819" cy="18158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Каналы коммуникаций и сбыта</a:t>
            </a:r>
          </a:p>
          <a:p>
            <a:pPr>
              <a:defRPr/>
            </a:pPr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defRPr/>
            </a:pPr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defRPr/>
            </a:pPr>
            <a:endParaRPr lang="ru-RU" sz="105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defRPr/>
            </a:pPr>
            <a:endParaRPr lang="ru-RU" sz="105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defRPr/>
            </a:pPr>
            <a:endParaRPr lang="ru-RU" sz="105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defRPr/>
            </a:pPr>
            <a:endParaRPr lang="ru-RU" sz="105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896651" y="1700809"/>
            <a:ext cx="1792819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Взаимоотношения с клиентами</a:t>
            </a: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222021" y="1700809"/>
            <a:ext cx="1757995" cy="19725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Ключевые виды деятельности</a:t>
            </a:r>
          </a:p>
          <a:p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242094" y="3740096"/>
            <a:ext cx="1752674" cy="174910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no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Arial" charset="0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0" lang="ru-RU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T Walsheim Pro Light" panose="02000503040000020003" pitchFamily="50" charset="-52"/>
              </a:rPr>
              <a:t>Ключевые ресурсы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0"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GT Walsheim Pro Light" panose="02000503040000020003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210772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188</Words>
  <Application>Microsoft Office PowerPoint</Application>
  <PresentationFormat>Широкоэкранный</PresentationFormat>
  <Paragraphs>59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GT Walsheim Pro Light</vt:lpstr>
      <vt:lpstr>GT Walsheim Pro Medium</vt:lpstr>
      <vt:lpstr>Тема Office</vt:lpstr>
      <vt:lpstr>Шаблон бизнес-модели по Остервальдеру</vt:lpstr>
      <vt:lpstr>Шаблон бизнес-модели по Остервальдеру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бизнес-модели по Остервальдеру</dc:title>
  <dc:creator>Вера</dc:creator>
  <cp:lastModifiedBy>Вероника Скопьюк</cp:lastModifiedBy>
  <cp:revision>5</cp:revision>
  <dcterms:created xsi:type="dcterms:W3CDTF">2016-05-25T14:49:52Z</dcterms:created>
  <dcterms:modified xsi:type="dcterms:W3CDTF">2024-10-09T23:38:47Z</dcterms:modified>
</cp:coreProperties>
</file>